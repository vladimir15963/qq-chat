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70" r:id="rId10"/>
    <p:sldId id="263" r:id="rId11"/>
    <p:sldId id="266" r:id="rId12"/>
    <p:sldId id="267" r:id="rId13"/>
    <p:sldId id="264" r:id="rId14"/>
    <p:sldId id="268" r:id="rId15"/>
    <p:sldId id="271" r:id="rId16"/>
  </p:sldIdLst>
  <p:sldSz cx="9144000" cy="6858000" type="screen4x3"/>
  <p:notesSz cx="6858000" cy="9144000"/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bilibili.com/video/BV1CK7VzqE2B/?spm_id_from=333.337.search-card.all.click&#13;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ashramc.github.io/YXZX_ARG/terminal/index.html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标题 3073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p>
            <a:pPr defTabSz="914400">
              <a:buClrTx/>
              <a:buSzTx/>
              <a:buFontTx/>
              <a:buNone/>
            </a:pPr>
            <a:r>
              <a:rPr lang="en-US" sz="6600" baseline="0">
                <a:solidFill>
                  <a:schemeClr val="tx2"/>
                </a:solidFill>
                <a:uFillTx/>
                <a:latin typeface="Arial Black" panose="020B0A04020102020204" charset="0"/>
                <a:ea typeface="宋体" panose="02010600030101010101" pitchFamily="2" charset="-122"/>
              </a:rPr>
              <a:t>ARG IS ON</a:t>
            </a:r>
            <a:endParaRPr lang="en-US" sz="6600" baseline="0">
              <a:solidFill>
                <a:schemeClr val="tx2"/>
              </a:solidFill>
              <a:uFillTx/>
              <a:latin typeface="Arial Black" panose="020B0A04020102020204" charset="0"/>
              <a:ea typeface="宋体" panose="02010600030101010101" pitchFamily="2" charset="-122"/>
            </a:endParaRPr>
          </a:p>
        </p:txBody>
      </p:sp>
      <p:sp>
        <p:nvSpPr>
          <p:cNvPr id="3075" name="副标题 3074"/>
          <p:cNvSpPr>
            <a:spLocks noGrp="1"/>
          </p:cNvSpPr>
          <p:nvPr>
            <p:ph type="subTitle" idx="1"/>
          </p:nvPr>
        </p:nvSpPr>
        <p:spPr>
          <a:xfrm>
            <a:off x="1385570" y="3429000"/>
            <a:ext cx="6400800" cy="1752600"/>
          </a:xfrm>
        </p:spPr>
        <p:txBody>
          <a:bodyPr/>
          <a:p>
            <a:pPr defTabSz="914400">
              <a:buClrTx/>
              <a:buSzTx/>
              <a:buFontTx/>
            </a:pPr>
            <a:r>
              <a:rPr lang="en-US" sz="3200" kern="1200" baseline="0">
                <a:latin typeface="Arial" panose="020B0604020202020204" pitchFamily="34" charset="0"/>
                <a:ea typeface="宋体" panose="02010600030101010101" pitchFamily="2" charset="-122"/>
              </a:rPr>
              <a:t>WE NEED YOU!</a:t>
            </a:r>
            <a:endParaRPr lang="en-US" sz="3200" kern="1200" baseline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chemeClr val="tx2"/>
                </a:solidFill>
                <a:uFillTx/>
                <a:latin typeface="Segoe UI Semibold" panose="020B0702040204020203" charset="0"/>
              </a:rPr>
              <a:t>什么是</a:t>
            </a:r>
            <a:r>
              <a:rPr lang="en-US" altLang="zh-CN"/>
              <a:t>ARG</a:t>
            </a:r>
            <a:r>
              <a:rPr lang="zh-CN" altLang="en-US"/>
              <a:t>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平行实境游戏（</a:t>
            </a:r>
            <a:r>
              <a:rPr lang="en-US" altLang="zh-CN"/>
              <a:t>Alternate Reality Gaming, ARG</a:t>
            </a:r>
            <a:r>
              <a:rPr lang="zh-CN" altLang="en-US"/>
              <a:t>）是一种以真实世界为平台，融合虚拟游戏元素的互动叙事游戏，玩家需通过现实生活中的多种媒介</a:t>
            </a:r>
            <a:r>
              <a:rPr lang="en-US" altLang="zh-CN"/>
              <a:t>——</a:t>
            </a:r>
            <a:r>
              <a:rPr lang="zh-CN" altLang="en-US"/>
              <a:t>如网站、社交媒体、电话、短信甚至实体地点</a:t>
            </a:r>
            <a:r>
              <a:rPr lang="en-US" altLang="zh-CN"/>
              <a:t>——</a:t>
            </a:r>
            <a:r>
              <a:rPr lang="zh-CN" altLang="en-US"/>
              <a:t>参与解谜与剧情推进，模糊了虚拟与现实的界限。</a:t>
            </a:r>
            <a:endParaRPr lang="zh-CN" altLang="en-US"/>
          </a:p>
          <a:p>
            <a:r>
              <a:rPr lang="en-US" altLang="zh-CN">
                <a:hlinkClick r:id="rId1" tooltip="" action="ppaction://hlinkfile"/>
              </a:rPr>
              <a:t>https://www.bilibili.com/video/BV1CK7VzqE2B/?spm_id_from=333.337.search-card.all.click</a:t>
            </a:r>
            <a:endParaRPr lang="en-US" altLang="zh-CN">
              <a:hlinkClick r:id="rId1" tooltip="" action="ppaction://hlinkfile"/>
            </a:endParaRPr>
          </a:p>
          <a:p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995" y="-27622"/>
            <a:ext cx="8229600" cy="1143000"/>
          </a:xfrm>
        </p:spPr>
        <p:txBody>
          <a:bodyPr/>
          <a:p>
            <a:r>
              <a:rPr lang="zh-CN" altLang="en-US"/>
              <a:t>能不能再详细一些</a:t>
            </a:r>
            <a:r>
              <a:rPr lang="en-US" altLang="zh-CN"/>
              <a:t>......</a:t>
            </a:r>
            <a:r>
              <a:rPr lang="zh-CN" altLang="en-US"/>
              <a:t>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605" y="836930"/>
            <a:ext cx="8229600" cy="4525963"/>
          </a:xfrm>
        </p:spPr>
        <p:txBody>
          <a:bodyPr/>
          <a:p>
            <a:r>
              <a:rPr lang="zh-CN" altLang="en-US" sz="1800">
                <a:solidFill>
                  <a:schemeClr val="tx1"/>
                </a:solidFill>
                <a:uFillTx/>
              </a:rPr>
              <a:t>核心特点：</a:t>
            </a:r>
            <a:endParaRPr lang="zh-CN" altLang="en-US" sz="1800">
              <a:solidFill>
                <a:schemeClr val="tx1"/>
              </a:solidFill>
              <a:uFillTx/>
            </a:endParaRPr>
          </a:p>
          <a:p>
            <a:r>
              <a:rPr lang="en-US" altLang="zh-CN" sz="1800">
                <a:solidFill>
                  <a:schemeClr val="tx1"/>
                </a:solidFill>
                <a:uFillTx/>
              </a:rPr>
              <a:t>1</a:t>
            </a:r>
            <a:r>
              <a:rPr lang="zh-CN" altLang="en-US" sz="1800">
                <a:solidFill>
                  <a:schemeClr val="tx1"/>
                </a:solidFill>
                <a:uFillTx/>
              </a:rPr>
              <a:t>虚实融合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‌</a:t>
            </a:r>
            <a:endParaRPr lang="en-US" altLang="zh-CN" sz="1800">
              <a:solidFill>
                <a:schemeClr val="tx1"/>
              </a:solidFill>
              <a:uFillTx/>
            </a:endParaRPr>
          </a:p>
          <a:p>
            <a:r>
              <a:rPr lang="en-US" altLang="zh-CN" sz="1800">
                <a:solidFill>
                  <a:schemeClr val="tx1"/>
                </a:solidFill>
                <a:uFillTx/>
              </a:rPr>
              <a:t>ARG </a:t>
            </a:r>
            <a:r>
              <a:rPr lang="zh-CN" altLang="en-US" sz="1800">
                <a:solidFill>
                  <a:schemeClr val="tx1"/>
                </a:solidFill>
                <a:uFillTx/>
              </a:rPr>
              <a:t>不依赖单一游戏界面，而是将线索分散在网页、视频、电话录音、街景地图等真实存在的媒介中。例如，《诡异广告调查事件》通过仿古早互联网风格的网页和百度地图街景嵌套解谜，让玩家像网络侦探一样挖掘隐藏信息。</a:t>
            </a:r>
            <a:endParaRPr lang="zh-CN" altLang="en-US" sz="1800">
              <a:solidFill>
                <a:schemeClr val="tx1"/>
              </a:solidFill>
              <a:uFillTx/>
            </a:endParaRPr>
          </a:p>
          <a:p>
            <a:endParaRPr lang="en-US" altLang="zh-CN" sz="1800">
              <a:solidFill>
                <a:schemeClr val="tx1"/>
              </a:solidFill>
              <a:uFillTx/>
            </a:endParaRPr>
          </a:p>
          <a:p>
            <a:r>
              <a:rPr lang="en-US" altLang="zh-CN" sz="1800">
                <a:solidFill>
                  <a:schemeClr val="tx1"/>
                </a:solidFill>
                <a:uFillTx/>
              </a:rPr>
              <a:t>2</a:t>
            </a:r>
            <a:r>
              <a:rPr lang="zh-CN" altLang="en-US" sz="1800">
                <a:solidFill>
                  <a:schemeClr val="tx1"/>
                </a:solidFill>
                <a:uFillTx/>
              </a:rPr>
              <a:t>跨媒体叙事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‌</a:t>
            </a:r>
            <a:endParaRPr lang="en-US" altLang="zh-CN" sz="1800">
              <a:solidFill>
                <a:schemeClr val="tx1"/>
              </a:solidFill>
              <a:uFillTx/>
            </a:endParaRPr>
          </a:p>
          <a:p>
            <a:r>
              <a:rPr lang="zh-CN" altLang="en-US" sz="1800">
                <a:solidFill>
                  <a:schemeClr val="tx1"/>
                </a:solidFill>
                <a:uFillTx/>
              </a:rPr>
              <a:t>故事线索跨越多个平台，玩家需整合不同渠道的信息才能推进剧情。经典案例《青蛙分数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2</a:t>
            </a:r>
            <a:r>
              <a:rPr lang="zh-CN" altLang="en-US" sz="1800">
                <a:solidFill>
                  <a:schemeClr val="tx1"/>
                </a:solidFill>
                <a:uFillTx/>
              </a:rPr>
              <a:t>》涉及文字、音频、电台、线下活动等多种载体，形成复杂的解谜网络。</a:t>
            </a:r>
            <a:endParaRPr lang="zh-CN" altLang="en-US" sz="1800">
              <a:solidFill>
                <a:schemeClr val="tx1"/>
              </a:solidFill>
              <a:uFillTx/>
            </a:endParaRPr>
          </a:p>
          <a:p>
            <a:endParaRPr lang="en-US" altLang="zh-CN" sz="1800">
              <a:solidFill>
                <a:schemeClr val="tx1"/>
              </a:solidFill>
              <a:uFillTx/>
            </a:endParaRPr>
          </a:p>
          <a:p>
            <a:r>
              <a:rPr lang="en-US" altLang="zh-CN" sz="1800">
                <a:solidFill>
                  <a:schemeClr val="tx1"/>
                </a:solidFill>
                <a:uFillTx/>
              </a:rPr>
              <a:t>3</a:t>
            </a:r>
            <a:r>
              <a:rPr lang="zh-CN" altLang="en-US" sz="1800">
                <a:solidFill>
                  <a:schemeClr val="tx1"/>
                </a:solidFill>
                <a:uFillTx/>
              </a:rPr>
              <a:t>集体协作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‌</a:t>
            </a:r>
            <a:endParaRPr lang="en-US" altLang="zh-CN" sz="1800">
              <a:solidFill>
                <a:schemeClr val="tx1"/>
              </a:solidFill>
              <a:uFillTx/>
            </a:endParaRPr>
          </a:p>
          <a:p>
            <a:r>
              <a:rPr lang="zh-CN" altLang="en-US" sz="1800">
                <a:solidFill>
                  <a:schemeClr val="tx1"/>
                </a:solidFill>
                <a:uFillTx/>
              </a:rPr>
              <a:t>单人难以破解全部谜题，通常需要社区协作。玩家分工处理密码学、编程、历史知识等专业领域，共同推动故事发展。</a:t>
            </a:r>
            <a:endParaRPr lang="zh-CN" altLang="en-US" sz="1800">
              <a:solidFill>
                <a:schemeClr val="tx1"/>
              </a:solidFill>
              <a:uFillTx/>
            </a:endParaRPr>
          </a:p>
          <a:p>
            <a:endParaRPr lang="en-US" altLang="zh-CN" sz="1800">
              <a:solidFill>
                <a:schemeClr val="tx1"/>
              </a:solidFill>
              <a:uFillTx/>
            </a:endParaRPr>
          </a:p>
          <a:p>
            <a:r>
              <a:rPr lang="en-US" altLang="zh-CN" sz="1800">
                <a:solidFill>
                  <a:schemeClr val="tx1"/>
                </a:solidFill>
                <a:uFillTx/>
              </a:rPr>
              <a:t>4“</a:t>
            </a:r>
            <a:r>
              <a:rPr lang="zh-CN" altLang="en-US" sz="1800">
                <a:solidFill>
                  <a:schemeClr val="tx1"/>
                </a:solidFill>
                <a:uFillTx/>
              </a:rPr>
              <a:t>这不是游戏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”</a:t>
            </a:r>
            <a:r>
              <a:rPr lang="zh-CN" altLang="en-US" sz="1800">
                <a:solidFill>
                  <a:schemeClr val="tx1"/>
                </a:solidFill>
                <a:uFillTx/>
              </a:rPr>
              <a:t>（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TINAG</a:t>
            </a:r>
            <a:r>
              <a:rPr lang="zh-CN" altLang="en-US" sz="1800">
                <a:solidFill>
                  <a:schemeClr val="tx1"/>
                </a:solidFill>
                <a:uFillTx/>
              </a:rPr>
              <a:t>）（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this is not a game</a:t>
            </a:r>
            <a:r>
              <a:rPr lang="zh-CN" altLang="en-US" sz="1800">
                <a:solidFill>
                  <a:schemeClr val="tx1"/>
                </a:solidFill>
                <a:uFillTx/>
              </a:rPr>
              <a:t>）理念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‌</a:t>
            </a:r>
            <a:endParaRPr lang="en-US" altLang="zh-CN" sz="1800">
              <a:solidFill>
                <a:schemeClr val="tx1"/>
              </a:solidFill>
              <a:uFillTx/>
            </a:endParaRPr>
          </a:p>
          <a:p>
            <a:r>
              <a:rPr lang="zh-CN" altLang="en-US" sz="1800">
                <a:solidFill>
                  <a:schemeClr val="tx1"/>
                </a:solidFill>
                <a:uFillTx/>
              </a:rPr>
              <a:t>许多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 ARG </a:t>
            </a:r>
            <a:r>
              <a:rPr lang="zh-CN" altLang="en-US" sz="1800">
                <a:solidFill>
                  <a:schemeClr val="tx1"/>
                </a:solidFill>
                <a:uFillTx/>
              </a:rPr>
              <a:t>初始阶段伪装成真实事件，如新闻、讣告或寻人启事，增强沉浸感。例如，《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Project:;COLD</a:t>
            </a:r>
            <a:r>
              <a:rPr lang="zh-CN" altLang="en-US" sz="1800">
                <a:solidFill>
                  <a:schemeClr val="tx1"/>
                </a:solidFill>
                <a:uFillTx/>
              </a:rPr>
              <a:t>》最初以偶像组合成员去世的推文引发关注，随后才揭示为解谜游戏。</a:t>
            </a:r>
            <a:endParaRPr lang="zh-CN" altLang="en-US" sz="1800">
              <a:solidFill>
                <a:schemeClr val="tx1"/>
              </a:solidFill>
              <a:uFillTx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Ours ARG</a:t>
            </a:r>
            <a:r>
              <a:rPr lang="zh-CN" altLang="en-US"/>
              <a:t>！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线上</a:t>
            </a:r>
            <a:r>
              <a:rPr lang="zh-CN" altLang="en-US"/>
              <a:t>部分</a:t>
            </a:r>
            <a:endParaRPr lang="zh-CN" altLang="en-US"/>
          </a:p>
          <a:p>
            <a:pPr marL="457200" lvl="1" indent="0">
              <a:buNone/>
            </a:pPr>
            <a:r>
              <a:rPr lang="en-US" altLang="zh-CN">
                <a:sym typeface="+mn-ea"/>
              </a:rPr>
              <a:t>Must Need:</a:t>
            </a:r>
            <a:endParaRPr lang="en-US" altLang="zh-CN">
              <a:sym typeface="+mn-ea"/>
            </a:endParaRPr>
          </a:p>
          <a:p>
            <a:pPr lvl="1"/>
            <a:r>
              <a:rPr lang="zh-CN" altLang="en-US">
                <a:sym typeface="+mn-ea"/>
              </a:rPr>
              <a:t>视频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图片（需要</a:t>
            </a:r>
            <a:r>
              <a:rPr lang="en-US" altLang="zh-CN">
                <a:sym typeface="+mn-ea"/>
              </a:rPr>
              <a:t>ps</a:t>
            </a:r>
            <a:r>
              <a:rPr lang="zh-CN" altLang="en-US">
                <a:sym typeface="+mn-ea"/>
              </a:rPr>
              <a:t>经验）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多个社交媒体账号</a:t>
            </a:r>
            <a:endParaRPr lang="zh-CN" altLang="en-US">
              <a:sym typeface="+mn-ea"/>
            </a:endParaRPr>
          </a:p>
          <a:p>
            <a:pPr marL="457200" lvl="1" indent="0">
              <a:buNone/>
            </a:pPr>
            <a:r>
              <a:rPr lang="en-US" altLang="zh-CN">
                <a:sym typeface="+mn-ea"/>
              </a:rPr>
              <a:t>If:</a:t>
            </a:r>
            <a:endParaRPr lang="en-US" altLang="zh-CN">
              <a:sym typeface="+mn-ea"/>
            </a:endParaRPr>
          </a:p>
          <a:p>
            <a:pPr lvl="1"/>
            <a:r>
              <a:rPr lang="zh-CN" altLang="en-US">
                <a:sym typeface="+mn-ea"/>
              </a:rPr>
              <a:t>网页（需要技术人员）</a:t>
            </a:r>
            <a:endParaRPr lang="en-US" altLang="zh-CN"/>
          </a:p>
          <a:p>
            <a:pPr marL="457200" lvl="1" indent="0">
              <a:buNone/>
            </a:pPr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线下</a:t>
            </a:r>
            <a:r>
              <a:rPr lang="zh-CN" altLang="en-US"/>
              <a:t>部分</a:t>
            </a:r>
            <a:endParaRPr lang="zh-CN" altLang="en-US"/>
          </a:p>
          <a:p>
            <a:pPr marL="0" lvl="1" indent="457200">
              <a:buNone/>
            </a:pPr>
            <a:r>
              <a:rPr lang="en-US" altLang="zh-CN">
                <a:sym typeface="+mn-ea"/>
              </a:rPr>
              <a:t>Must Need:</a:t>
            </a:r>
            <a:endParaRPr lang="en-US" altLang="zh-CN">
              <a:sym typeface="+mn-ea"/>
            </a:endParaRPr>
          </a:p>
          <a:p>
            <a:pPr lvl="1"/>
            <a:r>
              <a:rPr lang="zh-CN" altLang="en-US"/>
              <a:t>公告栏（传媒中心</a:t>
            </a:r>
            <a:r>
              <a:rPr lang="zh-CN" altLang="en-US"/>
              <a:t>门口？）</a:t>
            </a:r>
            <a:endParaRPr lang="zh-CN" altLang="en-US"/>
          </a:p>
          <a:p>
            <a:pPr lvl="1"/>
            <a:r>
              <a:rPr lang="en-US" altLang="zh-CN"/>
              <a:t>hide and seek</a:t>
            </a:r>
            <a:r>
              <a:rPr lang="zh-CN" altLang="en-US"/>
              <a:t>（经由同学或者藏在学校</a:t>
            </a:r>
            <a:r>
              <a:rPr lang="zh-CN" altLang="en-US"/>
              <a:t>内？</a:t>
            </a:r>
            <a:endParaRPr lang="zh-CN" altLang="en-US"/>
          </a:p>
          <a:p>
            <a:pPr marL="457200" lvl="1" indent="0">
              <a:buNone/>
            </a:pPr>
            <a:r>
              <a:rPr lang="en-US" altLang="zh-CN"/>
              <a:t>If:</a:t>
            </a:r>
            <a:endParaRPr lang="en-US" altLang="zh-CN"/>
          </a:p>
          <a:p>
            <a:pPr lvl="1"/>
            <a:r>
              <a:rPr lang="zh-CN" altLang="en-US"/>
              <a:t>与其他社团的联动？（暂未</a:t>
            </a:r>
            <a:r>
              <a:rPr lang="zh-CN" altLang="en-US"/>
              <a:t>确定）</a:t>
            </a:r>
            <a:endParaRPr lang="zh-CN" altLang="en-US"/>
          </a:p>
          <a:p>
            <a:pPr lvl="1"/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两校区联动</a:t>
            </a:r>
            <a:r>
              <a:rPr lang="en-US" altLang="zh-CN"/>
              <a:t>......?</a:t>
            </a:r>
            <a:r>
              <a:rPr lang="zh-CN" altLang="en-US"/>
              <a:t>（</a:t>
            </a:r>
            <a:r>
              <a:rPr lang="zh-CN" altLang="en-US"/>
              <a:t>未确定）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谜题设计上应是两边互相</a:t>
            </a:r>
            <a:r>
              <a:rPr lang="zh-CN" altLang="en-US"/>
              <a:t>推动</a:t>
            </a:r>
            <a:endParaRPr lang="zh-CN" altLang="en-US"/>
          </a:p>
          <a:p>
            <a:r>
              <a:rPr lang="zh-CN" altLang="en-US"/>
              <a:t>可以通过情节的设定来实现两校区解密内容上的统一与联动</a:t>
            </a:r>
            <a:endParaRPr lang="zh-CN" altLang="en-US"/>
          </a:p>
          <a:p>
            <a:pPr lvl="1"/>
            <a:r>
              <a:rPr lang="zh-CN" altLang="en-US"/>
              <a:t>（如过去与未来两条时间线）（或平行时空，异地</a:t>
            </a:r>
            <a:r>
              <a:rPr lang="zh-CN" altLang="en-US"/>
              <a:t>呼应等）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故事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主题要求积极向上，但最好能在允许范围内带有一定悬疑元素（为趣味性</a:t>
            </a:r>
            <a:r>
              <a:rPr lang="zh-CN" altLang="en-US"/>
              <a:t>考量）</a:t>
            </a:r>
            <a:endParaRPr lang="zh-CN" altLang="en-US"/>
          </a:p>
          <a:p>
            <a:r>
              <a:rPr lang="zh-CN" altLang="en-US"/>
              <a:t>参与的写手都会负责故事的</a:t>
            </a:r>
            <a:r>
              <a:rPr lang="zh-CN" altLang="en-US"/>
              <a:t>一部分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ARG</a:t>
            </a:r>
            <a:r>
              <a:rPr lang="zh-CN" altLang="en-US"/>
              <a:t>常用</a:t>
            </a:r>
            <a:r>
              <a:rPr lang="zh-CN" altLang="en-US"/>
              <a:t>工具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Base64</a:t>
            </a:r>
            <a:r>
              <a:rPr lang="zh-CN" altLang="en-US"/>
              <a:t>，摩斯电码，隐写术工具</a:t>
            </a:r>
            <a:endParaRPr lang="zh-CN" altLang="en-US"/>
          </a:p>
          <a:p>
            <a:r>
              <a:rPr lang="zh-CN" altLang="en-US"/>
              <a:t>图虫</a:t>
            </a:r>
            <a:r>
              <a:rPr lang="en-US" altLang="zh-CN"/>
              <a:t>EXIF</a:t>
            </a:r>
            <a:r>
              <a:rPr lang="zh-CN" altLang="en-US"/>
              <a:t>查看器（查看照片</a:t>
            </a:r>
            <a:r>
              <a:rPr lang="zh-CN" altLang="en-US"/>
              <a:t>信息）</a:t>
            </a:r>
            <a:endParaRPr lang="zh-CN" altLang="en-US"/>
          </a:p>
          <a:p>
            <a:r>
              <a:rPr lang="en-US" altLang="zh-CN"/>
              <a:t>TinEye</a:t>
            </a:r>
            <a:r>
              <a:rPr lang="zh-CN" altLang="en-US"/>
              <a:t>（通过图片查找来源）</a:t>
            </a:r>
            <a:endParaRPr lang="zh-CN" altLang="en-US"/>
          </a:p>
          <a:p>
            <a:r>
              <a:rPr lang="zh-CN" altLang="en-US"/>
              <a:t>草料二维码（生成</a:t>
            </a:r>
            <a:r>
              <a:rPr lang="zh-CN" altLang="en-US"/>
              <a:t>二维码），百度网盘</a:t>
            </a:r>
            <a:endParaRPr lang="zh-CN" altLang="en-US"/>
          </a:p>
          <a:p>
            <a:r>
              <a:rPr lang="zh-CN" altLang="en-US"/>
              <a:t>腾讯文档，阿里云通信（自动</a:t>
            </a:r>
            <a:r>
              <a:rPr lang="zh-CN" altLang="en-US"/>
              <a:t>短信）</a:t>
            </a:r>
            <a:endParaRPr lang="zh-CN" altLang="en-US"/>
          </a:p>
          <a:p>
            <a:r>
              <a:rPr lang="en-US" altLang="zh-CN"/>
              <a:t>IFTTT </a:t>
            </a:r>
            <a:r>
              <a:rPr lang="zh-CN" altLang="en-US"/>
              <a:t>或</a:t>
            </a:r>
            <a:r>
              <a:rPr lang="en-US" altLang="zh-CN"/>
              <a:t> Zapier</a:t>
            </a:r>
            <a:r>
              <a:rPr lang="zh-CN" altLang="en-US"/>
              <a:t>（扫码后自动发送邮件）</a:t>
            </a:r>
            <a:endParaRPr lang="zh-CN" altLang="en-US"/>
          </a:p>
          <a:p>
            <a:r>
              <a:rPr lang="en-US" altLang="zh-CN"/>
              <a:t>GitHub Pages</a:t>
            </a:r>
            <a:r>
              <a:rPr lang="zh-CN" altLang="en-US"/>
              <a:t>（免费托管静态网页）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（</a:t>
            </a:r>
            <a:r>
              <a:rPr lang="zh-CN" altLang="en-US"/>
              <a:t>制作）人员</a:t>
            </a:r>
            <a:r>
              <a:rPr lang="zh-CN" altLang="en-US"/>
              <a:t>招募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写手（</a:t>
            </a:r>
            <a:r>
              <a:rPr lang="zh-CN" altLang="en-US"/>
              <a:t>大量）</a:t>
            </a:r>
            <a:endParaRPr lang="zh-CN" altLang="en-US"/>
          </a:p>
          <a:p>
            <a:r>
              <a:rPr lang="en-US" altLang="zh-CN"/>
              <a:t>IT</a:t>
            </a:r>
            <a:r>
              <a:rPr lang="zh-CN" altLang="en-US"/>
              <a:t>（技术人员）（</a:t>
            </a:r>
            <a:r>
              <a:rPr lang="zh-CN" altLang="en-US"/>
              <a:t>大量）</a:t>
            </a:r>
            <a:endParaRPr lang="zh-CN" altLang="en-US"/>
          </a:p>
          <a:p>
            <a:r>
              <a:rPr lang="zh-CN" altLang="en-US"/>
              <a:t>画师（少量）（需要</a:t>
            </a:r>
            <a:r>
              <a:rPr lang="en-US" altLang="zh-CN"/>
              <a:t>ps</a:t>
            </a:r>
            <a:r>
              <a:rPr lang="zh-CN" altLang="en-US"/>
              <a:t>经验）</a:t>
            </a:r>
            <a:endParaRPr lang="zh-CN" altLang="en-US"/>
          </a:p>
          <a:p>
            <a:r>
              <a:rPr lang="zh-CN" altLang="en-US"/>
              <a:t>机动</a:t>
            </a:r>
            <a:r>
              <a:rPr lang="zh-CN" altLang="en-US"/>
              <a:t>特遣队</a:t>
            </a:r>
            <a:endParaRPr lang="zh-CN" altLang="en-US"/>
          </a:p>
          <a:p>
            <a:r>
              <a:rPr lang="zh-CN" altLang="en-US"/>
              <a:t>后期可能还需要少量测试</a:t>
            </a:r>
            <a:r>
              <a:rPr lang="zh-CN" altLang="en-US"/>
              <a:t>人员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（制作</a:t>
            </a:r>
            <a:r>
              <a:rPr lang="zh-CN" altLang="en-US"/>
              <a:t>人员）有什么要求吗</a:t>
            </a:r>
            <a:r>
              <a:rPr lang="en-US" altLang="zh-CN"/>
              <a:t>......?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我们欢迎一切有经验或没经验的</a:t>
            </a:r>
            <a:r>
              <a:rPr lang="zh-CN" altLang="en-US"/>
              <a:t>同志！</a:t>
            </a:r>
            <a:endParaRPr lang="zh-CN" altLang="en-US"/>
          </a:p>
          <a:p>
            <a:r>
              <a:rPr lang="zh-CN" altLang="en-US"/>
              <a:t>拥有一定的自由使用电子产品的</a:t>
            </a:r>
            <a:r>
              <a:rPr lang="zh-CN" altLang="en-US"/>
              <a:t>时间</a:t>
            </a:r>
            <a:endParaRPr lang="zh-CN" altLang="en-US"/>
          </a:p>
          <a:p>
            <a:r>
              <a:rPr lang="zh-CN" altLang="en-US">
                <a:sym typeface="+mn-ea"/>
              </a:rPr>
              <a:t>拥有一定的自由时间</a:t>
            </a:r>
            <a:endParaRPr lang="zh-CN" altLang="en-US"/>
          </a:p>
          <a:p>
            <a:r>
              <a:rPr lang="zh-CN" altLang="en-US"/>
              <a:t>愿意服从指挥，愿意参与</a:t>
            </a:r>
            <a:r>
              <a:rPr lang="en-US" altLang="zh-CN"/>
              <a:t>ARG</a:t>
            </a:r>
            <a:r>
              <a:rPr lang="zh-CN" altLang="en-US"/>
              <a:t>的</a:t>
            </a:r>
            <a:r>
              <a:rPr lang="zh-CN" altLang="en-US"/>
              <a:t>制作</a:t>
            </a:r>
            <a:endParaRPr lang="zh-CN" altLang="en-US"/>
          </a:p>
          <a:p>
            <a:r>
              <a:rPr lang="zh-CN" altLang="en-US"/>
              <a:t>良好的保密</a:t>
            </a:r>
            <a:r>
              <a:rPr lang="zh-CN" altLang="en-US"/>
              <a:t>意识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我只想游玩</a:t>
            </a:r>
            <a:r>
              <a:rPr lang="en-US" altLang="zh-CN"/>
              <a:t>......?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可以关注漫研社公众号，等待</a:t>
            </a:r>
            <a:r>
              <a:rPr lang="zh-CN" altLang="en-US"/>
              <a:t>消息</a:t>
            </a:r>
            <a:endParaRPr lang="zh-CN" altLang="en-US"/>
          </a:p>
          <a:p>
            <a:r>
              <a:rPr lang="zh-CN" altLang="en-US"/>
              <a:t>制作至少需要</a:t>
            </a:r>
            <a:r>
              <a:rPr lang="zh-CN" altLang="en-US"/>
              <a:t>半学期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一些具体流程</a:t>
            </a:r>
            <a:r>
              <a:rPr lang="zh-CN" altLang="en-US"/>
              <a:t>示例（</a:t>
            </a:r>
            <a:r>
              <a:rPr lang="en-US" altLang="zh-CN">
                <a:sym typeface="+mn-ea"/>
              </a:rPr>
              <a:t>AI</a:t>
            </a:r>
            <a:r>
              <a:rPr lang="zh-CN" altLang="en-US">
                <a:sym typeface="+mn-ea"/>
              </a:rPr>
              <a:t>提供）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2875"/>
            <a:ext cx="8229600" cy="4525963"/>
          </a:xfrm>
        </p:spPr>
        <p:txBody>
          <a:bodyPr/>
          <a:p>
            <a:r>
              <a:rPr lang="en-US" altLang="zh-CN" sz="1800">
                <a:solidFill>
                  <a:schemeClr val="tx1"/>
                </a:solidFill>
                <a:uFillTx/>
              </a:rPr>
              <a:t>“</a:t>
            </a:r>
            <a:r>
              <a:rPr lang="zh-CN" altLang="en-US" sz="1800">
                <a:solidFill>
                  <a:schemeClr val="tx1"/>
                </a:solidFill>
                <a:uFillTx/>
              </a:rPr>
              <a:t>一张图藏密码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”‌</a:t>
            </a:r>
            <a:endParaRPr lang="en-US" altLang="zh-CN" sz="1800">
              <a:solidFill>
                <a:schemeClr val="tx1"/>
              </a:solidFill>
              <a:uFillTx/>
            </a:endParaRPr>
          </a:p>
          <a:p>
            <a:pPr marL="0" indent="0">
              <a:buNone/>
            </a:pPr>
            <a:r>
              <a:rPr lang="zh-CN" altLang="en-US" sz="1800">
                <a:solidFill>
                  <a:schemeClr val="tx1"/>
                </a:solidFill>
                <a:uFillTx/>
              </a:rPr>
              <a:t>上传一张校园风景照至百度网盘，设置公开链接</a:t>
            </a:r>
            <a:endParaRPr lang="zh-CN" altLang="en-US" sz="1800">
              <a:solidFill>
                <a:schemeClr val="tx1"/>
              </a:solidFill>
              <a:uFillTx/>
            </a:endParaRPr>
          </a:p>
          <a:p>
            <a:pPr marL="0" indent="0">
              <a:buNone/>
            </a:pPr>
            <a:r>
              <a:rPr lang="zh-CN" altLang="en-US" sz="1800">
                <a:solidFill>
                  <a:schemeClr val="tx1"/>
                </a:solidFill>
                <a:uFillTx/>
              </a:rPr>
              <a:t>使用工具（如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ExifTool</a:t>
            </a:r>
            <a:r>
              <a:rPr lang="zh-CN" altLang="en-US" sz="1800">
                <a:solidFill>
                  <a:schemeClr val="tx1"/>
                </a:solidFill>
                <a:uFillTx/>
              </a:rPr>
              <a:t>）在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EXIF</a:t>
            </a:r>
            <a:r>
              <a:rPr lang="zh-CN" altLang="en-US" sz="1800">
                <a:solidFill>
                  <a:schemeClr val="tx1"/>
                </a:solidFill>
                <a:uFillTx/>
              </a:rPr>
              <a:t>中隐藏密码：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20260308</a:t>
            </a:r>
            <a:endParaRPr lang="en-US" altLang="zh-CN" sz="1800">
              <a:solidFill>
                <a:schemeClr val="tx1"/>
              </a:solidFill>
              <a:uFillTx/>
            </a:endParaRPr>
          </a:p>
          <a:p>
            <a:pPr marL="0" indent="0">
              <a:buNone/>
            </a:pPr>
            <a:r>
              <a:rPr lang="zh-CN" altLang="en-US" sz="1800">
                <a:solidFill>
                  <a:schemeClr val="tx1"/>
                </a:solidFill>
                <a:uFillTx/>
              </a:rPr>
              <a:t>在公众号推文写道：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“</a:t>
            </a:r>
            <a:r>
              <a:rPr lang="zh-CN" altLang="en-US" sz="1800">
                <a:solidFill>
                  <a:schemeClr val="tx1"/>
                </a:solidFill>
                <a:uFillTx/>
              </a:rPr>
              <a:t>这张照片，是她最后拍下的画面。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”</a:t>
            </a:r>
            <a:endParaRPr lang="en-US" altLang="zh-CN" sz="1800">
              <a:solidFill>
                <a:schemeClr val="tx1"/>
              </a:solidFill>
              <a:uFillTx/>
            </a:endParaRPr>
          </a:p>
          <a:p>
            <a:pPr marL="0" indent="0">
              <a:buNone/>
            </a:pPr>
            <a:r>
              <a:rPr lang="zh-CN" altLang="en-US" sz="1800">
                <a:solidFill>
                  <a:schemeClr val="tx1"/>
                </a:solidFill>
                <a:uFillTx/>
              </a:rPr>
              <a:t>玩家需下载原图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 </a:t>
            </a:r>
            <a:r>
              <a:rPr lang="en-US" altLang="en-US" sz="1800">
                <a:solidFill>
                  <a:schemeClr val="tx1"/>
                </a:solidFill>
                <a:uFillTx/>
              </a:rPr>
              <a:t>→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 </a:t>
            </a:r>
            <a:r>
              <a:rPr lang="zh-CN" altLang="en-US" sz="1800">
                <a:solidFill>
                  <a:schemeClr val="tx1"/>
                </a:solidFill>
                <a:uFillTx/>
              </a:rPr>
              <a:t>用图虫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EXIF</a:t>
            </a:r>
            <a:r>
              <a:rPr lang="zh-CN" altLang="en-US" sz="1800">
                <a:solidFill>
                  <a:schemeClr val="tx1"/>
                </a:solidFill>
                <a:uFillTx/>
              </a:rPr>
              <a:t>查看器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 </a:t>
            </a:r>
            <a:r>
              <a:rPr lang="en-US" altLang="en-US" sz="1800">
                <a:solidFill>
                  <a:schemeClr val="tx1"/>
                </a:solidFill>
                <a:uFillTx/>
              </a:rPr>
              <a:t>→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 </a:t>
            </a:r>
            <a:r>
              <a:rPr lang="zh-CN" altLang="en-US" sz="1800">
                <a:solidFill>
                  <a:schemeClr val="tx1"/>
                </a:solidFill>
                <a:uFillTx/>
              </a:rPr>
              <a:t>找到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“</a:t>
            </a:r>
            <a:r>
              <a:rPr lang="zh-CN" altLang="en-US" sz="1800">
                <a:solidFill>
                  <a:schemeClr val="tx1"/>
                </a:solidFill>
                <a:uFillTx/>
              </a:rPr>
              <a:t>软件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”</a:t>
            </a:r>
            <a:r>
              <a:rPr lang="zh-CN" altLang="en-US" sz="1800">
                <a:solidFill>
                  <a:schemeClr val="tx1"/>
                </a:solidFill>
                <a:uFillTx/>
              </a:rPr>
              <a:t>字段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 </a:t>
            </a:r>
            <a:r>
              <a:rPr lang="en-US" altLang="en-US" sz="1800">
                <a:solidFill>
                  <a:schemeClr val="tx1"/>
                </a:solidFill>
                <a:uFillTx/>
              </a:rPr>
              <a:t>→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 </a:t>
            </a:r>
            <a:r>
              <a:rPr lang="zh-CN" altLang="en-US" sz="1800">
                <a:solidFill>
                  <a:schemeClr val="tx1"/>
                </a:solidFill>
                <a:uFillTx/>
              </a:rPr>
              <a:t>得到密码</a:t>
            </a:r>
            <a:endParaRPr lang="zh-CN" altLang="en-US" sz="1800">
              <a:solidFill>
                <a:schemeClr val="tx1"/>
              </a:solidFill>
              <a:uFillTx/>
            </a:endParaRPr>
          </a:p>
          <a:p>
            <a:r>
              <a:rPr lang="en-US" altLang="zh-CN" sz="1800">
                <a:solidFill>
                  <a:schemeClr val="tx1"/>
                </a:solidFill>
                <a:uFillTx/>
              </a:rPr>
              <a:t>“</a:t>
            </a:r>
            <a:r>
              <a:rPr lang="zh-CN" altLang="en-US" sz="1800">
                <a:solidFill>
                  <a:schemeClr val="tx1"/>
                </a:solidFill>
                <a:uFillTx/>
              </a:rPr>
              <a:t>一段语音藏生日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”‌</a:t>
            </a:r>
            <a:endParaRPr lang="en-US" altLang="zh-CN" sz="1800">
              <a:solidFill>
                <a:schemeClr val="tx1"/>
              </a:solidFill>
              <a:uFillTx/>
            </a:endParaRPr>
          </a:p>
          <a:p>
            <a:pPr marL="0" indent="0">
              <a:buNone/>
            </a:pPr>
            <a:r>
              <a:rPr lang="zh-CN" altLang="en-US" sz="1800">
                <a:solidFill>
                  <a:schemeClr val="tx1"/>
                </a:solidFill>
                <a:uFillTx/>
              </a:rPr>
              <a:t>录制一段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10</a:t>
            </a:r>
            <a:r>
              <a:rPr lang="zh-CN" altLang="en-US" sz="1800">
                <a:solidFill>
                  <a:schemeClr val="tx1"/>
                </a:solidFill>
                <a:uFillTx/>
              </a:rPr>
              <a:t>秒语音：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“</a:t>
            </a:r>
            <a:r>
              <a:rPr lang="zh-CN" altLang="en-US" sz="1800">
                <a:solidFill>
                  <a:schemeClr val="tx1"/>
                </a:solidFill>
                <a:uFillTx/>
              </a:rPr>
              <a:t>今天是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……3</a:t>
            </a:r>
            <a:r>
              <a:rPr lang="zh-CN" altLang="en-US" sz="1800">
                <a:solidFill>
                  <a:schemeClr val="tx1"/>
                </a:solidFill>
                <a:uFillTx/>
              </a:rPr>
              <a:t>月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8</a:t>
            </a:r>
            <a:r>
              <a:rPr lang="zh-CN" altLang="en-US" sz="1800">
                <a:solidFill>
                  <a:schemeClr val="tx1"/>
                </a:solidFill>
                <a:uFillTx/>
              </a:rPr>
              <a:t>号，别忘了。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”</a:t>
            </a:r>
            <a:r>
              <a:rPr lang="zh-CN" altLang="en-US" sz="1800">
                <a:solidFill>
                  <a:schemeClr val="tx1"/>
                </a:solidFill>
                <a:uFillTx/>
              </a:rPr>
              <a:t>（背景音含摩斯电码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“... --- ...”</a:t>
            </a:r>
            <a:r>
              <a:rPr lang="zh-CN" altLang="en-US" sz="1800">
                <a:solidFill>
                  <a:schemeClr val="tx1"/>
                </a:solidFill>
                <a:uFillTx/>
              </a:rPr>
              <a:t>）</a:t>
            </a:r>
            <a:endParaRPr lang="zh-CN" altLang="en-US" sz="1800">
              <a:solidFill>
                <a:schemeClr val="tx1"/>
              </a:solidFill>
              <a:uFillTx/>
            </a:endParaRPr>
          </a:p>
          <a:p>
            <a:pPr marL="0" indent="0">
              <a:buNone/>
            </a:pPr>
            <a:r>
              <a:rPr lang="zh-CN" altLang="en-US" sz="1800">
                <a:solidFill>
                  <a:schemeClr val="tx1"/>
                </a:solidFill>
                <a:uFillTx/>
              </a:rPr>
              <a:t>上传至腾讯云语音平台，生成可拨打电话号码</a:t>
            </a:r>
            <a:endParaRPr lang="zh-CN" altLang="en-US" sz="1800">
              <a:solidFill>
                <a:schemeClr val="tx1"/>
              </a:solidFill>
              <a:uFillTx/>
            </a:endParaRPr>
          </a:p>
          <a:p>
            <a:pPr marL="0" indent="0">
              <a:buNone/>
            </a:pPr>
            <a:r>
              <a:rPr lang="zh-CN" altLang="en-US" sz="1800">
                <a:solidFill>
                  <a:schemeClr val="tx1"/>
                </a:solidFill>
                <a:uFillTx/>
              </a:rPr>
              <a:t>玩家拨打后听到语音，同时用摩斯工具解码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“SOS” </a:t>
            </a:r>
            <a:r>
              <a:rPr lang="en-US" altLang="en-US" sz="1800">
                <a:solidFill>
                  <a:schemeClr val="tx1"/>
                </a:solidFill>
                <a:uFillTx/>
              </a:rPr>
              <a:t>→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 </a:t>
            </a:r>
            <a:r>
              <a:rPr lang="zh-CN" altLang="en-US" sz="1800">
                <a:solidFill>
                  <a:schemeClr val="tx1"/>
                </a:solidFill>
                <a:uFillTx/>
              </a:rPr>
              <a:t>暗示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“</a:t>
            </a:r>
            <a:r>
              <a:rPr lang="zh-CN" altLang="en-US" sz="1800">
                <a:solidFill>
                  <a:schemeClr val="tx1"/>
                </a:solidFill>
                <a:uFillTx/>
              </a:rPr>
              <a:t>求救日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”</a:t>
            </a:r>
            <a:endParaRPr lang="en-US" altLang="zh-CN" sz="1800">
              <a:solidFill>
                <a:schemeClr val="tx1"/>
              </a:solidFill>
              <a:uFillTx/>
            </a:endParaRPr>
          </a:p>
          <a:p>
            <a:r>
              <a:rPr lang="en-US" altLang="zh-CN" sz="1800">
                <a:solidFill>
                  <a:schemeClr val="tx1"/>
                </a:solidFill>
                <a:uFillTx/>
              </a:rPr>
              <a:t>“</a:t>
            </a:r>
            <a:r>
              <a:rPr lang="zh-CN" altLang="en-US" sz="1800">
                <a:solidFill>
                  <a:schemeClr val="tx1"/>
                </a:solidFill>
                <a:uFillTx/>
              </a:rPr>
              <a:t>双人协作密码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”‌</a:t>
            </a:r>
            <a:endParaRPr lang="en-US" altLang="zh-CN" sz="1800">
              <a:solidFill>
                <a:schemeClr val="tx1"/>
              </a:solidFill>
              <a:uFillTx/>
            </a:endParaRPr>
          </a:p>
          <a:p>
            <a:pPr marL="0" indent="0">
              <a:buNone/>
            </a:pPr>
            <a:r>
              <a:rPr lang="zh-CN" altLang="en-US" sz="1800">
                <a:solidFill>
                  <a:schemeClr val="tx1"/>
                </a:solidFill>
                <a:uFillTx/>
              </a:rPr>
              <a:t>设计两个微信二维码，分别发给两位玩家</a:t>
            </a:r>
            <a:endParaRPr lang="zh-CN" altLang="en-US" sz="1800">
              <a:solidFill>
                <a:schemeClr val="tx1"/>
              </a:solidFill>
              <a:uFillTx/>
            </a:endParaRPr>
          </a:p>
          <a:p>
            <a:pPr marL="0" indent="0">
              <a:buNone/>
            </a:pPr>
            <a:r>
              <a:rPr lang="zh-CN" altLang="en-US" sz="1800">
                <a:solidFill>
                  <a:schemeClr val="tx1"/>
                </a:solidFill>
                <a:uFillTx/>
              </a:rPr>
              <a:t>扫码后跳转不同网页，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A</a:t>
            </a:r>
            <a:r>
              <a:rPr lang="zh-CN" altLang="en-US" sz="1800">
                <a:solidFill>
                  <a:schemeClr val="tx1"/>
                </a:solidFill>
                <a:uFillTx/>
              </a:rPr>
              <a:t>看到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“</a:t>
            </a:r>
            <a:r>
              <a:rPr lang="zh-CN" altLang="en-US" sz="1800">
                <a:solidFill>
                  <a:schemeClr val="tx1"/>
                </a:solidFill>
                <a:uFillTx/>
              </a:rPr>
              <a:t>红色符号：</a:t>
            </a:r>
            <a:r>
              <a:rPr lang="en-US" altLang="en-US" sz="1800">
                <a:solidFill>
                  <a:schemeClr val="tx1"/>
                </a:solidFill>
                <a:uFillTx/>
              </a:rPr>
              <a:t>△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”</a:t>
            </a:r>
            <a:r>
              <a:rPr lang="zh-CN" altLang="en-US" sz="1800">
                <a:solidFill>
                  <a:schemeClr val="tx1"/>
                </a:solidFill>
                <a:uFillTx/>
              </a:rPr>
              <a:t>，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B</a:t>
            </a:r>
            <a:r>
              <a:rPr lang="zh-CN" altLang="en-US" sz="1800">
                <a:solidFill>
                  <a:schemeClr val="tx1"/>
                </a:solidFill>
                <a:uFillTx/>
              </a:rPr>
              <a:t>看到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“</a:t>
            </a:r>
            <a:r>
              <a:rPr lang="zh-CN" altLang="en-US" sz="1800">
                <a:solidFill>
                  <a:schemeClr val="tx1"/>
                </a:solidFill>
                <a:uFillTx/>
              </a:rPr>
              <a:t>蓝色符号：</a:t>
            </a:r>
            <a:r>
              <a:rPr lang="en-US" altLang="en-US" sz="1800">
                <a:solidFill>
                  <a:schemeClr val="tx1"/>
                </a:solidFill>
                <a:uFillTx/>
              </a:rPr>
              <a:t>○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”</a:t>
            </a:r>
            <a:endParaRPr lang="en-US" altLang="zh-CN" sz="1800">
              <a:solidFill>
                <a:schemeClr val="tx1"/>
              </a:solidFill>
              <a:uFillTx/>
            </a:endParaRPr>
          </a:p>
          <a:p>
            <a:pPr marL="0" indent="0">
              <a:buNone/>
            </a:pPr>
            <a:r>
              <a:rPr lang="zh-CN" altLang="en-US" sz="1800">
                <a:solidFill>
                  <a:schemeClr val="tx1"/>
                </a:solidFill>
                <a:uFillTx/>
              </a:rPr>
              <a:t>两人需在腾讯文档中输入对方符号，组合成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“</a:t>
            </a:r>
            <a:r>
              <a:rPr lang="en-US" altLang="en-US" sz="1800">
                <a:solidFill>
                  <a:schemeClr val="tx1"/>
                </a:solidFill>
                <a:uFillTx/>
              </a:rPr>
              <a:t>△○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” </a:t>
            </a:r>
            <a:r>
              <a:rPr lang="en-US" altLang="en-US" sz="1800">
                <a:solidFill>
                  <a:schemeClr val="tx1"/>
                </a:solidFill>
                <a:uFillTx/>
              </a:rPr>
              <a:t>→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 </a:t>
            </a:r>
            <a:r>
              <a:rPr lang="zh-CN" altLang="en-US" sz="1800">
                <a:solidFill>
                  <a:schemeClr val="tx1"/>
                </a:solidFill>
                <a:uFillTx/>
              </a:rPr>
              <a:t>触发隐藏链接</a:t>
            </a:r>
            <a:endParaRPr lang="zh-CN" altLang="en-US" sz="1800">
              <a:solidFill>
                <a:schemeClr val="tx1"/>
              </a:solidFill>
              <a:uFillTx/>
            </a:endParaRPr>
          </a:p>
          <a:p>
            <a:pPr marL="0" indent="0">
              <a:buNone/>
            </a:pPr>
            <a:r>
              <a:rPr lang="zh-CN" altLang="en-US" sz="1800">
                <a:solidFill>
                  <a:schemeClr val="tx1"/>
                </a:solidFill>
                <a:uFillTx/>
              </a:rPr>
              <a:t>链接指向最终结局：一封电子毕业信</a:t>
            </a:r>
            <a:endParaRPr lang="zh-CN" altLang="en-US" sz="1800">
              <a:solidFill>
                <a:schemeClr val="tx1"/>
              </a:solidFill>
              <a:uFillTx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360" y="836930"/>
            <a:ext cx="8229600" cy="4525963"/>
          </a:xfrm>
        </p:spPr>
        <p:txBody>
          <a:bodyPr/>
          <a:p>
            <a:r>
              <a:rPr lang="zh-CN" altLang="en-US" sz="3600">
                <a:solidFill>
                  <a:schemeClr val="tx1"/>
                </a:solidFill>
                <a:uFillTx/>
              </a:rPr>
              <a:t>经典可复用案例模板</a:t>
            </a:r>
            <a:endParaRPr lang="zh-CN" altLang="en-US" sz="3600">
              <a:solidFill>
                <a:schemeClr val="tx1"/>
              </a:solidFill>
              <a:uFillTx/>
            </a:endParaRPr>
          </a:p>
          <a:p>
            <a:pPr marL="0" indent="0">
              <a:buNone/>
            </a:pPr>
            <a:endParaRPr lang="zh-CN" altLang="en-US" sz="3600">
              <a:solidFill>
                <a:schemeClr val="tx1"/>
              </a:solidFill>
              <a:uFillTx/>
            </a:endParaRPr>
          </a:p>
          <a:p>
            <a:r>
              <a:rPr lang="zh-CN" altLang="en-US" sz="1800">
                <a:solidFill>
                  <a:schemeClr val="tx1"/>
                </a:solidFill>
                <a:uFillTx/>
              </a:rPr>
              <a:t>案例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1</a:t>
            </a:r>
            <a:r>
              <a:rPr lang="zh-CN" altLang="en-US" sz="1800">
                <a:solidFill>
                  <a:schemeClr val="tx1"/>
                </a:solidFill>
                <a:uFillTx/>
              </a:rPr>
              <a:t>：《异象中学转校生失踪事件》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——</a:t>
            </a:r>
            <a:r>
              <a:rPr lang="zh-CN" altLang="en-US" sz="1800">
                <a:solidFill>
                  <a:schemeClr val="tx1"/>
                </a:solidFill>
                <a:uFillTx/>
              </a:rPr>
              <a:t>零代码网页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ARG</a:t>
            </a:r>
            <a:r>
              <a:rPr lang="zh-CN" altLang="en-US" sz="1800">
                <a:solidFill>
                  <a:schemeClr val="tx1"/>
                </a:solidFill>
                <a:uFillTx/>
              </a:rPr>
              <a:t>原型</a:t>
            </a:r>
            <a:endParaRPr lang="zh-CN" altLang="en-US" sz="1800">
              <a:solidFill>
                <a:schemeClr val="tx1"/>
              </a:solidFill>
              <a:uFillTx/>
            </a:endParaRPr>
          </a:p>
          <a:p>
            <a:r>
              <a:rPr lang="zh-CN" altLang="en-US" sz="1800">
                <a:solidFill>
                  <a:schemeClr val="tx1"/>
                </a:solidFill>
                <a:uFillTx/>
              </a:rPr>
              <a:t>由玩家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“ashramc”</a:t>
            </a:r>
            <a:r>
              <a:rPr lang="zh-CN" altLang="en-US" sz="1800">
                <a:solidFill>
                  <a:schemeClr val="tx1"/>
                </a:solidFill>
                <a:uFillTx/>
              </a:rPr>
              <a:t>使用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AI</a:t>
            </a:r>
            <a:r>
              <a:rPr lang="zh-CN" altLang="en-US" sz="1800">
                <a:solidFill>
                  <a:schemeClr val="tx1"/>
                </a:solidFill>
                <a:uFillTx/>
              </a:rPr>
              <a:t>工具零代码开发，已公开源码与完整流程：</a:t>
            </a:r>
            <a:endParaRPr lang="zh-CN" altLang="en-US" sz="1800">
              <a:solidFill>
                <a:schemeClr val="tx1"/>
              </a:solidFill>
              <a:uFillTx/>
            </a:endParaRPr>
          </a:p>
          <a:p>
            <a:endParaRPr lang="en-US" altLang="zh-CN" sz="1800">
              <a:solidFill>
                <a:schemeClr val="tx1"/>
              </a:solidFill>
              <a:uFillTx/>
            </a:endParaRPr>
          </a:p>
          <a:p>
            <a:r>
              <a:rPr lang="zh-CN" altLang="en-US" sz="1800">
                <a:solidFill>
                  <a:schemeClr val="tx1"/>
                </a:solidFill>
                <a:uFillTx/>
              </a:rPr>
              <a:t>入口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‌</a:t>
            </a:r>
            <a:r>
              <a:rPr lang="zh-CN" altLang="en-US" sz="1800">
                <a:solidFill>
                  <a:schemeClr val="tx1"/>
                </a:solidFill>
                <a:uFillTx/>
              </a:rPr>
              <a:t>：</a:t>
            </a:r>
            <a:r>
              <a:rPr lang="en-US" altLang="en-US" sz="1800">
                <a:solidFill>
                  <a:schemeClr val="tx1"/>
                </a:solidFill>
                <a:uFillTx/>
                <a:hlinkClick r:id="rId1" tooltip="" action="ppaction://hlinkfile"/>
              </a:rPr>
              <a:t>https://ashramc.github.io/YXZX_ARG/terminal/index.html</a:t>
            </a:r>
            <a:endParaRPr lang="en-US" altLang="zh-CN" sz="1800">
              <a:solidFill>
                <a:schemeClr val="tx1"/>
              </a:solidFill>
              <a:uFillTx/>
            </a:endParaRPr>
          </a:p>
          <a:p>
            <a:r>
              <a:rPr lang="zh-CN" altLang="en-US" sz="1800">
                <a:solidFill>
                  <a:schemeClr val="tx1"/>
                </a:solidFill>
                <a:uFillTx/>
              </a:rPr>
              <a:t>机制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‌</a:t>
            </a:r>
            <a:r>
              <a:rPr lang="zh-CN" altLang="en-US" sz="1800">
                <a:solidFill>
                  <a:schemeClr val="tx1"/>
                </a:solidFill>
                <a:uFillTx/>
              </a:rPr>
              <a:t>：</a:t>
            </a:r>
            <a:endParaRPr lang="zh-CN" altLang="en-US" sz="1800">
              <a:solidFill>
                <a:schemeClr val="tx1"/>
              </a:solidFill>
              <a:uFillTx/>
            </a:endParaRPr>
          </a:p>
          <a:p>
            <a:r>
              <a:rPr lang="zh-CN" altLang="en-US" sz="1800">
                <a:solidFill>
                  <a:schemeClr val="tx1"/>
                </a:solidFill>
                <a:uFillTx/>
              </a:rPr>
              <a:t>玩家登录校园邮箱（账号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/</a:t>
            </a:r>
            <a:r>
              <a:rPr lang="zh-CN" altLang="en-US" sz="1800">
                <a:solidFill>
                  <a:schemeClr val="tx1"/>
                </a:solidFill>
                <a:uFillTx/>
              </a:rPr>
              <a:t>密码已嵌入网页源码）</a:t>
            </a:r>
            <a:endParaRPr lang="zh-CN" altLang="en-US" sz="1800">
              <a:solidFill>
                <a:schemeClr val="tx1"/>
              </a:solidFill>
              <a:uFillTx/>
            </a:endParaRPr>
          </a:p>
          <a:p>
            <a:r>
              <a:rPr lang="zh-CN" altLang="en-US" sz="1800">
                <a:solidFill>
                  <a:schemeClr val="tx1"/>
                </a:solidFill>
                <a:uFillTx/>
              </a:rPr>
              <a:t>收到一封加密邮件（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Base64</a:t>
            </a:r>
            <a:r>
              <a:rPr lang="zh-CN" altLang="en-US" sz="1800">
                <a:solidFill>
                  <a:schemeClr val="tx1"/>
                </a:solidFill>
                <a:uFillTx/>
              </a:rPr>
              <a:t>编码）</a:t>
            </a:r>
            <a:endParaRPr lang="zh-CN" altLang="en-US" sz="1800">
              <a:solidFill>
                <a:schemeClr val="tx1"/>
              </a:solidFill>
              <a:uFillTx/>
            </a:endParaRPr>
          </a:p>
          <a:p>
            <a:r>
              <a:rPr lang="zh-CN" altLang="en-US" sz="1800">
                <a:solidFill>
                  <a:schemeClr val="tx1"/>
                </a:solidFill>
                <a:uFillTx/>
              </a:rPr>
              <a:t>解码后获得线索：一张照片的</a:t>
            </a:r>
            <a:r>
              <a:rPr lang="en-US" altLang="zh-CN" sz="1800">
                <a:solidFill>
                  <a:schemeClr val="tx1"/>
                </a:solidFill>
                <a:uFillTx/>
              </a:rPr>
              <a:t>EXIF</a:t>
            </a:r>
            <a:r>
              <a:rPr lang="zh-CN" altLang="en-US" sz="1800">
                <a:solidFill>
                  <a:schemeClr val="tx1"/>
                </a:solidFill>
                <a:uFillTx/>
              </a:rPr>
              <a:t>坐标</a:t>
            </a:r>
            <a:endParaRPr lang="zh-CN" altLang="en-US" sz="1800">
              <a:solidFill>
                <a:schemeClr val="tx1"/>
              </a:solidFill>
              <a:uFillTx/>
            </a:endParaRPr>
          </a:p>
          <a:p>
            <a:r>
              <a:rPr lang="zh-CN" altLang="en-US" sz="1800">
                <a:solidFill>
                  <a:schemeClr val="tx1"/>
                </a:solidFill>
                <a:uFillTx/>
              </a:rPr>
              <a:t>前往真实地点（如校门口路灯）扫描二维码</a:t>
            </a:r>
            <a:endParaRPr lang="zh-CN" altLang="en-US" sz="1800">
              <a:solidFill>
                <a:schemeClr val="tx1"/>
              </a:solidFill>
              <a:uFillTx/>
            </a:endParaRPr>
          </a:p>
          <a:p>
            <a:r>
              <a:rPr lang="zh-CN" altLang="en-US" sz="1800">
                <a:solidFill>
                  <a:schemeClr val="tx1"/>
                </a:solidFill>
                <a:uFillTx/>
              </a:rPr>
              <a:t>跳转至隐藏网页，触发语音留言</a:t>
            </a:r>
            <a:endParaRPr lang="zh-CN" altLang="en-US" sz="1800">
              <a:solidFill>
                <a:schemeClr val="tx1"/>
              </a:solidFill>
              <a:uFillTx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750" y="2780983"/>
            <a:ext cx="8229600" cy="1143000"/>
          </a:xfrm>
        </p:spPr>
        <p:txBody>
          <a:bodyPr/>
          <a:p>
            <a:r>
              <a:rPr lang="en-US" altLang="zh-CN" sz="6600">
                <a:solidFill>
                  <a:schemeClr val="tx2"/>
                </a:solidFill>
                <a:uFillTx/>
                <a:latin typeface="Ink Free" panose="03080402000500000000" charset="0"/>
              </a:rPr>
              <a:t>THANK YOU!</a:t>
            </a:r>
            <a:endParaRPr lang="en-US" altLang="zh-CN" sz="6600">
              <a:solidFill>
                <a:schemeClr val="tx2"/>
              </a:solidFill>
              <a:uFillTx/>
              <a:latin typeface="Ink Free" panose="03080402000500000000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1831340" cy="832485"/>
          </a:xfrm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1804</Words>
  <Application>WPS 演示</Application>
  <PresentationFormat/>
  <Paragraphs>121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宋体</vt:lpstr>
      <vt:lpstr>Wingdings</vt:lpstr>
      <vt:lpstr>Arial Black</vt:lpstr>
      <vt:lpstr>Segoe UI Semibold</vt:lpstr>
      <vt:lpstr>Ink Free</vt:lpstr>
      <vt:lpstr>微软雅黑</vt:lpstr>
      <vt:lpstr>Arial Unicode MS</vt:lpstr>
      <vt:lpstr>Calibri</vt:lpstr>
      <vt:lpstr>默认设计模板</vt:lpstr>
      <vt:lpstr>ARG IS ON</vt:lpstr>
      <vt:lpstr>什么是ARG？</vt:lpstr>
      <vt:lpstr>能不能再详细一些......？</vt:lpstr>
      <vt:lpstr>Ours ARG！</vt:lpstr>
      <vt:lpstr>PowerPoint 演示文稿</vt:lpstr>
      <vt:lpstr>两校区联动......?（未确定）</vt:lpstr>
      <vt:lpstr>故事</vt:lpstr>
      <vt:lpstr>ARG常用工具</vt:lpstr>
      <vt:lpstr>（制作）人员招募</vt:lpstr>
      <vt:lpstr>（制作人员）有什么要求吗......?</vt:lpstr>
      <vt:lpstr>我只想游玩......?</vt:lpstr>
      <vt:lpstr>一些具体流程示例（AI提供）</vt:lpstr>
      <vt:lpstr>PowerPoint 演示文稿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ARG IS ON</dc:title>
  <dc:creator>Administrator</dc:creator>
  <cp:lastModifiedBy>Administrator</cp:lastModifiedBy>
  <cp:revision>4</cp:revision>
  <dcterms:created xsi:type="dcterms:W3CDTF">2026-03-08T13:34:00Z</dcterms:created>
  <dcterms:modified xsi:type="dcterms:W3CDTF">2026-03-09T07:16:29Z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D7BA5BCBD1F34AE782909234865ABB7A_12</vt:lpwstr>
  </property>
</Properties>
</file>